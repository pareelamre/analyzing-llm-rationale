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54864" cy="25603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Structuring Context for Better LLM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C2A8"/>
                </a:solidFill>
                <a:latin typeface="Calibri"/>
              </a:rPr>
              <a:t>How the way you frame information changes what an LLM can do with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8CA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A8"/>
                </a:solidFill>
                <a:latin typeface="Calibri"/>
              </a:rPr>
              <a:t>Not how much context — but which kind, and how it's shaped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>
                <a:solidFill>
                  <a:srgbClr val="C8D4E4"/>
                </a:solidFill>
                <a:latin typeface="Calibri"/>
              </a:rPr>
              <a:t>  •  Giving an LLM a raw question leaves it with nothing to anchor on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C8D4E4"/>
                </a:solidFill>
                <a:latin typeface="Calibri"/>
              </a:rPr>
              <a:t>  •  Dumping too much unstructured information overwhelms it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C8D4E4"/>
                </a:solidFill>
                <a:latin typeface="Calibri"/>
              </a:rPr>
              <a:t>  •  The real lever is deciding what goes in, and in what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4E4"/>
                </a:solidFill>
                <a:latin typeface="Calibri"/>
              </a:rPr>
              <a:t>This project tests that idea directly — by building a dataset where each question
is paired with carefully structured context, then measuring how different structures
affect LLM accuracy and calibration.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8C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Experimental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79876" y="1280160"/>
            <a:ext cx="5029200" cy="822960"/>
          </a:xfrm>
          <a:prstGeom prst="rect">
            <a:avLst/>
          </a:prstGeom>
          <a:solidFill>
            <a:srgbClr val="131C2B"/>
          </a:solidFill>
          <a:ln w="1524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62756" y="13533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FF"/>
                </a:solidFill>
                <a:latin typeface="Calibri"/>
              </a:rPr>
              <a:t>Metaculus  —  1,580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2756" y="17190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8CA8"/>
                </a:solidFill>
                <a:latin typeface="Calibri"/>
              </a:rPr>
              <a:t>binary · resolved · resolution criteria + news articles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6" y="2468880"/>
            <a:ext cx="5029200" cy="822960"/>
          </a:xfrm>
          <a:prstGeom prst="rect">
            <a:avLst/>
          </a:prstGeom>
          <a:solidFill>
            <a:srgbClr val="131C2B"/>
          </a:solidFill>
          <a:ln w="1524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2756" y="25420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A8"/>
                </a:solidFill>
                <a:latin typeface="Calibri"/>
              </a:rPr>
              <a:t>8 Prompt 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2756" y="29077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8CA8"/>
                </a:solidFill>
                <a:latin typeface="Calibri"/>
              </a:rPr>
              <a:t>each targets a different reasoning 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79876" y="3657600"/>
            <a:ext cx="5029200" cy="822960"/>
          </a:xfrm>
          <a:prstGeom prst="rect">
            <a:avLst/>
          </a:prstGeom>
          <a:solidFill>
            <a:srgbClr val="131C2B"/>
          </a:solidFill>
          <a:ln w="1524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2756" y="37307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A8"/>
                </a:solidFill>
                <a:latin typeface="Calibri"/>
              </a:rPr>
              <a:t>5 LLMs  —  proprietary + open-weight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2756" y="40965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8CA8"/>
                </a:solidFill>
                <a:latin typeface="Calibri"/>
              </a:rPr>
              <a:t>output: { answer · confidence · rationale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9876" y="4846320"/>
            <a:ext cx="5029200" cy="822960"/>
          </a:xfrm>
          <a:prstGeom prst="rect">
            <a:avLst/>
          </a:prstGeom>
          <a:solidFill>
            <a:srgbClr val="131C2B"/>
          </a:solidFill>
          <a:ln w="15240">
            <a:solidFill>
              <a:srgbClr val="00D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2756" y="4919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7E"/>
                </a:solidFill>
                <a:latin typeface="Calibri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756" y="528523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8CA8"/>
                </a:solidFill>
                <a:latin typeface="Calibri"/>
              </a:rPr>
              <a:t>Accuracy  ·  Brier Score  ·  ECE  ·  Human rationale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103120"/>
            <a:ext cx="27432" cy="27432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3291840"/>
            <a:ext cx="27432" cy="27432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4480560"/>
            <a:ext cx="27432" cy="274320"/>
          </a:xfrm>
          <a:prstGeom prst="rect">
            <a:avLst/>
          </a:prstGeom>
          <a:solidFill>
            <a:srgbClr val="2A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8C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Context Is Structured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D4E4"/>
                </a:solidFill>
                <a:latin typeface="Calibri"/>
              </a:rPr>
              <a:t>Each question is augmented with layers of context — question, background,
news evidence, and resolution criteria.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2707" y="2468880"/>
            <a:ext cx="2377440" cy="1005840"/>
          </a:xfrm>
          <a:prstGeom prst="rect">
            <a:avLst/>
          </a:prstGeom>
          <a:solidFill>
            <a:srgbClr val="2A3850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4147" y="2743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4739" y="2468880"/>
            <a:ext cx="2377440" cy="1005840"/>
          </a:xfrm>
          <a:prstGeom prst="rect">
            <a:avLst/>
          </a:prstGeom>
          <a:solidFill>
            <a:srgbClr val="131C2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6179" y="2743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+ Background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6772" y="2468880"/>
            <a:ext cx="2377440" cy="1005840"/>
          </a:xfrm>
          <a:prstGeom prst="rect">
            <a:avLst/>
          </a:prstGeom>
          <a:solidFill>
            <a:srgbClr val="1A3050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2743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+ News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18804" y="2468880"/>
            <a:ext cx="2377440" cy="1005840"/>
          </a:xfrm>
          <a:prstGeom prst="rect">
            <a:avLst/>
          </a:prstGeom>
          <a:solidFill>
            <a:srgbClr val="0050AA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0244" y="2743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+ Resolution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4156" y="2788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7AFF"/>
                </a:solidFill>
                <a:latin typeface="Calibr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6188" y="2788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7AFF"/>
                </a:solidFill>
                <a:latin typeface="Calibri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8220" y="2788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7AFF"/>
                </a:solidFill>
                <a:latin typeface="Calibri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C2A8"/>
                </a:solidFill>
                <a:latin typeface="Calibri"/>
              </a:rPr>
              <a:t>Key design choice:  curated and concise over raw and complete.
Each layer adds a specific type of signal, not just more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8C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8 Prompt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A8"/>
                </a:solidFill>
                <a:latin typeface="Calibri"/>
              </a:rPr>
              <a:t>Testing how the reasoning is framed — not just what context is included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4E4"/>
                </a:solidFill>
                <a:latin typeface="Calibri"/>
              </a:rPr>
              <a:t>Each variant asks the model to structure its rationale around a different component —
the predicted outcome, key conditions, reasoning type, uncertainty, temporal deadline, and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A8"/>
                </a:solidFill>
                <a:latin typeface="Calibri"/>
              </a:rPr>
              <a:t>The goal is to isolate which dimensions of structured reasoning
actually improve forecasting accuracy and calibration.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3" y="2468880"/>
            <a:ext cx="2743200" cy="502920"/>
          </a:xfrm>
          <a:prstGeom prst="rect">
            <a:avLst/>
          </a:prstGeom>
          <a:solidFill>
            <a:srgbClr val="131C2B"/>
          </a:solidFill>
          <a:ln w="1016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" y="2560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V0  Neutral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0692" y="2468880"/>
            <a:ext cx="2743200" cy="502920"/>
          </a:xfrm>
          <a:prstGeom prst="rect">
            <a:avLst/>
          </a:prstGeom>
          <a:solidFill>
            <a:srgbClr val="131C2B"/>
          </a:solidFill>
          <a:ln w="1016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7852" y="2560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V1  Predicted Event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5060" y="2468880"/>
            <a:ext cx="2743200" cy="502920"/>
          </a:xfrm>
          <a:prstGeom prst="rect">
            <a:avLst/>
          </a:prstGeom>
          <a:solidFill>
            <a:srgbClr val="131C2B"/>
          </a:solidFill>
          <a:ln w="1016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2220" y="2560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V2  Key Attribute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39428" y="2468880"/>
            <a:ext cx="2743200" cy="502920"/>
          </a:xfrm>
          <a:prstGeom prst="rect">
            <a:avLst/>
          </a:prstGeom>
          <a:solidFill>
            <a:srgbClr val="131C2B"/>
          </a:solidFill>
          <a:ln w="1016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6588" y="2560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V3  Reasoning 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3" y="3136392"/>
            <a:ext cx="2743200" cy="502920"/>
          </a:xfrm>
          <a:prstGeom prst="rect">
            <a:avLst/>
          </a:prstGeom>
          <a:solidFill>
            <a:srgbClr val="131C2B"/>
          </a:solidFill>
          <a:ln w="1016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V5  Key Conditions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0692" y="3136392"/>
            <a:ext cx="2743200" cy="502920"/>
          </a:xfrm>
          <a:prstGeom prst="rect">
            <a:avLst/>
          </a:prstGeom>
          <a:solidFill>
            <a:srgbClr val="131C2B"/>
          </a:solidFill>
          <a:ln w="1016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7852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V6  Step-by-Step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5060" y="3136392"/>
            <a:ext cx="2743200" cy="502920"/>
          </a:xfrm>
          <a:prstGeom prst="rect">
            <a:avLst/>
          </a:prstGeom>
          <a:solidFill>
            <a:srgbClr val="131C2B"/>
          </a:solidFill>
          <a:ln w="1016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2220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V7  Uncertainty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39428" y="3136392"/>
            <a:ext cx="2743200" cy="502920"/>
          </a:xfrm>
          <a:prstGeom prst="rect">
            <a:avLst/>
          </a:prstGeom>
          <a:solidFill>
            <a:srgbClr val="131C2B"/>
          </a:solidFill>
          <a:ln w="1016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6588" y="3227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V8  Temporal Anchors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8C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the Results 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1700">
                <a:solidFill>
                  <a:srgbClr val="C8D4E4"/>
                </a:solidFill>
                <a:latin typeface="Calibri"/>
              </a:rPr>
              <a:t>  •  Some structures improve accuracy; others improve how humans perceive the reasoning — these are not the same thing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C8D4E4"/>
                </a:solidFill>
                <a:latin typeface="Calibri"/>
              </a:rPr>
              <a:t>  •  Temporal grounding is the most consistent and transferable improvement across all models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C8D4E4"/>
                </a:solidFill>
                <a:latin typeface="Calibri"/>
              </a:rPr>
              <a:t>  •  Forcing explicit uncertainty language can hurt calibration rather than help it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C8D4E4"/>
                </a:solidFill>
                <a:latin typeface="Calibri"/>
              </a:rPr>
              <a:t>  •  The right structure depends on the model and what you are optimizing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8C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This Generalizes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D4E4"/>
                </a:solidFill>
                <a:latin typeface="Calibri"/>
              </a:rPr>
              <a:t>The same structuring choices appear in any domain where an LLM must reason under uncertainty.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5" y="2194560"/>
            <a:ext cx="3291840" cy="2377440"/>
          </a:xfrm>
          <a:prstGeom prst="rect">
            <a:avLst/>
          </a:prstGeom>
          <a:solidFill>
            <a:srgbClr val="131C2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5" y="23317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AFF"/>
                </a:solidFill>
                <a:latin typeface="Calibri"/>
              </a:rPr>
              <a:t>Medicine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5" y="2880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4"/>
                </a:solidFill>
                <a:latin typeface="Calibri"/>
              </a:rPr>
              <a:t>Key conditions for diagnosis
Deadline for 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8555" y="2194560"/>
            <a:ext cx="3291840" cy="2377440"/>
          </a:xfrm>
          <a:prstGeom prst="rect">
            <a:avLst/>
          </a:prstGeom>
          <a:solidFill>
            <a:srgbClr val="131C2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1436" y="23317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AFF"/>
                </a:solidFill>
                <a:latin typeface="Calibri"/>
              </a:rPr>
              <a:t>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1436" y="2880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4"/>
                </a:solidFill>
                <a:latin typeface="Calibri"/>
              </a:rPr>
              <a:t>Conditions that must hold
Type of reasoning being applied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7596" y="2194560"/>
            <a:ext cx="3291840" cy="2377440"/>
          </a:xfrm>
          <a:prstGeom prst="rect">
            <a:avLst/>
          </a:prstGeom>
          <a:solidFill>
            <a:srgbClr val="131C2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0475" y="23317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AFF"/>
                </a:solidFill>
                <a:latin typeface="Calibri"/>
              </a:rPr>
              <a:t>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5" y="2880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4"/>
                </a:solidFill>
                <a:latin typeface="Calibri"/>
              </a:rPr>
              <a:t>Credibility of the signal
Temporal horizon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A8"/>
                </a:solidFill>
                <a:latin typeface="Calibri"/>
              </a:rPr>
              <a:t>The components tested here are not forecasting-specific.
They are the building blocks of structured reasoning in any high-stakes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8C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sz="2000">
                <a:solidFill>
                  <a:srgbClr val="C8D4E4"/>
                </a:solidFill>
                <a:latin typeface="Calibri"/>
              </a:rPr>
              <a:t>  •  Context structure is a design decision, not an afterthought</a:t>
            </a:r>
          </a:p>
          <a:p>
            <a:pPr>
              <a:spcBef>
                <a:spcPts val="2400"/>
              </a:spcBef>
            </a:pPr>
            <a:r>
              <a:rPr sz="2000">
                <a:solidFill>
                  <a:srgbClr val="C8D4E4"/>
                </a:solidFill>
                <a:latin typeface="Calibri"/>
              </a:rPr>
              <a:t>  •  Accuracy, calibration, and interpretability do not always point to the same structure</a:t>
            </a:r>
          </a:p>
          <a:p>
            <a:pPr>
              <a:spcBef>
                <a:spcPts val="2400"/>
              </a:spcBef>
            </a:pPr>
            <a:r>
              <a:rPr sz="2000">
                <a:solidFill>
                  <a:srgbClr val="C8D4E4"/>
                </a:solidFill>
                <a:latin typeface="Calibri"/>
              </a:rPr>
              <a:t>  •  This research gives a principled basis for deciding what to tell an LLM — not just which LLM to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8CA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